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🎙️ Voice Command Recognition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BDDFF"/>
                </a:solidFill>
              </a:defRPr>
            </a:pPr>
            <a:r>
              <a:t>Keyword spotting with a convolutional neural network</a:t>
            </a:r>
            <a:br/>
            <a:r>
              <a:t>on the Google Speech Commands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Deep Learning — Course Project</a:t>
            </a:r>
            <a:br/>
            <a:r>
              <a:t>Aditya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problem: keyword spotting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95959"/>
                </a:solidFill>
              </a:defRPr>
            </a:pPr>
            <a:r>
              <a:t>Recognize short spoken commands in real time, on small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595959"/>
                </a:solidFill>
              </a:defRPr>
            </a:pPr>
            <a:r>
              <a:t>Voice assistants, smart TVs and IoT gadgets all need to hear a few dozen fixed commands — “stop”, “go”, “volume up” — instantly and offline.</a:t>
            </a:r>
          </a:p>
          <a:p>
            <a:pPr>
              <a:spcAft>
                <a:spcPts val="1000"/>
              </a:spcAft>
              <a:defRPr sz="2000" b="1">
                <a:solidFill>
                  <a:srgbClr val="595959"/>
                </a:solidFill>
              </a:defRPr>
            </a:pPr>
            <a:r>
              <a:t>Goal: given a 1-second audio clip, output which of 35 command words was spoken.</a:t>
            </a:r>
          </a:p>
          <a:p>
            <a:pPr>
              <a:spcAft>
                <a:spcPts val="1000"/>
              </a:spcAft>
              <a:defRPr sz="2000" b="0">
                <a:solidFill>
                  <a:srgbClr val="595959"/>
                </a:solidFill>
              </a:defRPr>
            </a:pPr>
            <a:r>
              <a:t>Constraints: tiny model (fits on a phone), fast inference, robust to background noise.</a:t>
            </a:r>
          </a:p>
          <a:p>
            <a:pPr>
              <a:spcAft>
                <a:spcPts val="1000"/>
              </a:spcAft>
              <a:defRPr sz="2000" b="0">
                <a:solidFill>
                  <a:srgbClr val="595959"/>
                </a:solidFill>
              </a:defRPr>
            </a:pPr>
            <a:r>
              <a:t>This is a classification problem — but the input is sound, not an image.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Dataset: Google Speech Commands v0.02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595959"/>
                </a:solidFill>
              </a:defRPr>
            </a:pPr>
            <a:r>
              <a:t>105,829 one-second clips, 16 kHz mono — words like “yes”, “no”, “up”, “down”, “stop”, “go”, plus digits.</a:t>
            </a:r>
          </a:p>
          <a:p>
            <a:pPr>
              <a:spcAft>
                <a:spcPts val="1000"/>
              </a:spcAft>
              <a:defRPr sz="2000" b="0">
                <a:solidFill>
                  <a:srgbClr val="595959"/>
                </a:solidFill>
              </a:defRPr>
            </a:pPr>
            <a:r>
              <a:t>35 word classes; official validation/test lists used (no random split) so results are comparable.</a:t>
            </a:r>
          </a:p>
          <a:p>
            <a:pPr>
              <a:spcAft>
                <a:spcPts val="1000"/>
              </a:spcAft>
              <a:defRPr sz="2000" b="1">
                <a:solidFill>
                  <a:srgbClr val="595959"/>
                </a:solidFill>
              </a:defRPr>
            </a:pPr>
            <a:r>
              <a:t>Classes are imbalanced — the smallest word class has ~2.6× fewer clips than the largest.</a:t>
            </a:r>
          </a:p>
          <a:p>
            <a:pPr>
              <a:spcAft>
                <a:spcPts val="1000"/>
              </a:spcAft>
              <a:defRPr sz="2000" b="0">
                <a:solidFill>
                  <a:srgbClr val="595959"/>
                </a:solidFill>
              </a:defRPr>
            </a:pPr>
            <a:r>
              <a:t>Ships with real background-noise recordings for the robustness study.</a:t>
            </a:r>
          </a:p>
        </p:txBody>
      </p:sp>
      <p:pic>
        <p:nvPicPr>
          <p:cNvPr id="5" name="Picture 4" descr="clas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20240"/>
            <a:ext cx="5303520" cy="42428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Approach: sound → image → 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95959"/>
                </a:solidFill>
              </a:defRPr>
            </a:pPr>
            <a:r>
              <a:t>Turn audio into a picture of pitch-over-time, then use image recognition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94560"/>
            <a:ext cx="2468880" cy="20116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1. Waveform</a:t>
            </a:r>
            <a:br/>
            <a:r>
              <a:t>16,000 samples</a:t>
            </a:r>
          </a:p>
          <a:p>
            <a:pPr algn="ctr">
              <a:defRPr sz="1500">
                <a:solidFill>
                  <a:srgbClr val="FFFFFF"/>
                </a:solidFill>
              </a:defRPr>
            </a:pPr>
            <a:r>
              <a:t>raw air-pressure</a:t>
            </a:r>
            <a:br/>
            <a:r>
              <a:t>wiggle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292608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F3A5F"/>
                </a:solidFill>
              </a:defRPr>
            </a:pPr>
            <a:r>
              <a:t>▶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2194560"/>
            <a:ext cx="2468880" cy="20116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2. Log-mel</a:t>
            </a:r>
            <a:br/>
            <a:r>
              <a:t>spectrogram</a:t>
            </a:r>
            <a:br/>
            <a:r>
              <a:t>40 × 101</a:t>
            </a:r>
          </a:p>
          <a:p>
            <a:pPr algn="ctr">
              <a:defRPr sz="1500">
                <a:solidFill>
                  <a:srgbClr val="FFFFFF"/>
                </a:solidFill>
              </a:defRPr>
            </a:pPr>
            <a:r>
              <a:t>pitch (mel) vs time;</a:t>
            </a:r>
            <a:br/>
            <a:r>
              <a:t>log-scaled, normalized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292608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F3A5F"/>
                </a:solidFill>
              </a:defRPr>
            </a:pPr>
            <a: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94560"/>
            <a:ext cx="2468880" cy="20116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3. CNN</a:t>
            </a:r>
            <a:br/>
            <a:r>
              <a:t>~1.1M params</a:t>
            </a:r>
          </a:p>
          <a:p>
            <a:pPr algn="ctr">
              <a:defRPr sz="1500">
                <a:solidFill>
                  <a:srgbClr val="FFFFFF"/>
                </a:solidFill>
              </a:defRPr>
            </a:pPr>
            <a:r>
              <a:t>learns visual patterns:</a:t>
            </a:r>
            <a:br/>
            <a:r>
              <a:t>hiss, bursts, vowels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92608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F3A5F"/>
                </a:solidFill>
              </a:defRPr>
            </a:pPr>
            <a: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39" y="2194560"/>
            <a:ext cx="2468880" cy="20116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4. Softmax</a:t>
            </a:r>
            <a:br/>
            <a:r>
              <a:t>35 words</a:t>
            </a:r>
          </a:p>
          <a:p>
            <a:pPr algn="ctr">
              <a:defRPr sz="1500">
                <a:solidFill>
                  <a:srgbClr val="FFFFFF"/>
                </a:solidFill>
              </a:defRPr>
            </a:pPr>
            <a:r>
              <a:t>probability per word;</a:t>
            </a:r>
            <a:br/>
            <a:r>
              <a:t>pick the 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595959"/>
                </a:solidFill>
              </a:defRPr>
            </a:pPr>
            <a:r>
              <a:t>Why mel? It warps pitch the way human ears hear — fine detail at low frequencies, coarse at high ones.</a:t>
            </a:r>
          </a:p>
          <a:p>
            <a:pPr>
              <a:spcAft>
                <a:spcPts val="1000"/>
              </a:spcAft>
              <a:defRPr sz="1800" b="0">
                <a:solidFill>
                  <a:srgbClr val="595959"/>
                </a:solidFill>
              </a:defRPr>
            </a:pPr>
            <a:r>
              <a:t>Why log + normalize? Loudness is logarithmic, and neural nets train far better on zero-mean inputs.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Model architecture: KeywordCNN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95959"/>
                </a:solidFill>
              </a:defRPr>
            </a:pPr>
            <a:r>
              <a:t>1,132,707 trainable parameters — small enough to train on a laptop CPU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595959"/>
                </a:solidFill>
                <a:latin typeface="Consolas"/>
              </a:defRPr>
            </a:pPr>
            <a:r>
              <a:t>Input  (1 × 40 × 101)  log-mel spectrogram</a:t>
            </a:r>
          </a:p>
          <a:p>
            <a:pPr>
              <a:spcAft>
                <a:spcPts val="1400"/>
              </a:spcAft>
              <a:defRPr sz="2200">
                <a:solidFill>
                  <a:srgbClr val="595959"/>
                </a:solidFill>
                <a:latin typeface="Consolas"/>
              </a:defRPr>
            </a:pPr>
            <a:r>
              <a:t>Conv 1→64 (3×3) → BatchNorm → ReLU → MaxPool(2×2) → Dropout(0.25)</a:t>
            </a:r>
          </a:p>
          <a:p>
            <a:pPr>
              <a:spcAft>
                <a:spcPts val="1400"/>
              </a:spcAft>
              <a:defRPr sz="2200">
                <a:solidFill>
                  <a:srgbClr val="595959"/>
                </a:solidFill>
                <a:latin typeface="Consolas"/>
              </a:defRPr>
            </a:pPr>
            <a:r>
              <a:t>Conv 64→128 (3×3) → BatchNorm → ReLU → MaxPool(2×2) → Dropout(0.25)</a:t>
            </a:r>
          </a:p>
          <a:p>
            <a:pPr>
              <a:spcAft>
                <a:spcPts val="1400"/>
              </a:spcAft>
              <a:defRPr sz="2200">
                <a:solidFill>
                  <a:srgbClr val="595959"/>
                </a:solidFill>
                <a:latin typeface="Consolas"/>
              </a:defRPr>
            </a:pPr>
            <a:r>
              <a:t>AdaptiveAvgPool(4×8)  →  4096 features (keeps time resolution)</a:t>
            </a:r>
          </a:p>
          <a:p>
            <a:pPr>
              <a:spcAft>
                <a:spcPts val="1400"/>
              </a:spcAft>
              <a:defRPr sz="2200">
                <a:solidFill>
                  <a:srgbClr val="595959"/>
                </a:solidFill>
                <a:latin typeface="Consolas"/>
              </a:defRPr>
            </a:pPr>
            <a:r>
              <a:t>Linear 4096→256 → ReLU → Dropout(0.5) → Linear 256→35 → Softmax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595959"/>
                </a:solidFill>
              </a:defRPr>
            </a:pPr>
            <a:r>
              <a:t>Convolutions detect local time-frequency patterns; pooling gives shift tolerance; dropout + batch-norm fight overfitting.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595959"/>
                </a:solidFill>
              </a:defRPr>
            </a:pPr>
            <a:r>
              <a:t>Optimizer Adam (lr 1e-3), batch 256, cross-entropy loss, 15 epochs.</a:t>
            </a:r>
          </a:p>
          <a:p>
            <a:pPr>
              <a:spcAft>
                <a:spcPts val="1000"/>
              </a:spcAft>
              <a:defRPr sz="2000" b="0">
                <a:solidFill>
                  <a:srgbClr val="595959"/>
                </a:solidFill>
              </a:defRPr>
            </a:pPr>
            <a:r>
              <a:t>Learning rate halved automatically when validation accuracy plateaus.</a:t>
            </a:r>
          </a:p>
          <a:p>
            <a:pPr>
              <a:spcAft>
                <a:spcPts val="1000"/>
              </a:spcAft>
              <a:defRPr sz="2000" b="1">
                <a:solidFill>
                  <a:srgbClr val="595959"/>
                </a:solidFill>
              </a:defRPr>
            </a:pPr>
            <a:r>
              <a:t>Best checkpoint kept by validation accuracy — test set never touched during training.</a:t>
            </a:r>
          </a:p>
          <a:p>
            <a:pPr>
              <a:spcAft>
                <a:spcPts val="1000"/>
              </a:spcAft>
              <a:defRPr sz="2000" b="0">
                <a:solidFill>
                  <a:srgbClr val="595959"/>
                </a:solidFill>
              </a:defRPr>
            </a:pPr>
            <a:r>
              <a:t>Augmentation-free baseline: the numbers below are from clean training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Iteration: what the first model taught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95959"/>
                </a:solidFill>
              </a:defRPr>
            </a:pPr>
            <a:r>
              <a:t>The first trained model stalled at 52.7% — debugging it was the most valuable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595959"/>
                </a:solidFill>
              </a:defRPr>
            </a:pPr>
            <a:r>
              <a:t>Symptom: validation accuracy plateaued near 53% — under-capacity, not overfitting.</a:t>
            </a:r>
          </a:p>
          <a:p>
            <a:pPr>
              <a:spcAft>
                <a:spcPts val="1000"/>
              </a:spcAft>
              <a:defRPr sz="2000" b="0">
                <a:solidFill>
                  <a:srgbClr val="595959"/>
                </a:solidFill>
              </a:defRPr>
            </a:pPr>
            <a:r>
              <a:t>Diagnosis: two stacked 2×2 max-pools crushed the 40×101 spectrogram down to 10×25, throwing away the fine timing detail that separates “three” from “tree”.</a:t>
            </a:r>
          </a:p>
          <a:p>
            <a:pPr>
              <a:spcAft>
                <a:spcPts val="1000"/>
              </a:spcAft>
              <a:defRPr sz="2000" b="1">
                <a:solidFill>
                  <a:srgbClr val="595959"/>
                </a:solidFill>
              </a:defRPr>
            </a:pPr>
            <a:r>
              <a:t>Fix: replaced the aggressive pooling with AdaptiveAvgPool(4×8), keeping time-frequency resolution into the dense head.</a:t>
            </a:r>
          </a:p>
          <a:p>
            <a:pPr>
              <a:spcAft>
                <a:spcPts val="1000"/>
              </a:spcAft>
              <a:defRPr sz="2000" b="1">
                <a:solidFill>
                  <a:srgbClr val="595959"/>
                </a:solidFill>
              </a:defRPr>
            </a:pPr>
            <a:r>
              <a:t>Result: 52.7% → 63.3% test accuracy (+10.6 points) on the same 15-epoch budget.</a:t>
            </a:r>
          </a:p>
          <a:p>
            <a:pPr>
              <a:spcAft>
                <a:spcPts val="1000"/>
              </a:spcAft>
              <a:defRPr sz="2000" b="0">
                <a:solidFill>
                  <a:srgbClr val="595959"/>
                </a:solidFill>
              </a:defRPr>
            </a:pPr>
            <a:r>
              <a:t>Viva-ready lesson: when a model underfits, ask what information the architecture destroys.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95959"/>
                </a:solidFill>
              </a:defRPr>
            </a:pPr>
            <a:r>
              <a:t>Test accuracy 63.33% on 11,005 held-out clips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94560"/>
            <a:ext cx="777240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0428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KeywordCNN (this work)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304288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E86AB"/>
                </a:solidFill>
              </a:defRPr>
            </a:pPr>
            <a:r>
              <a:t>63.33%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00400"/>
            <a:ext cx="7772400" cy="82296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101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595959"/>
                </a:solidFill>
              </a:defRPr>
            </a:pPr>
            <a:r>
              <a:t>MFCC + linear SVM (classical baseline)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310128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95959"/>
                </a:solidFill>
              </a:defRPr>
            </a:pPr>
            <a:r>
              <a:t>22.66%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06240"/>
            <a:ext cx="7772400" cy="82296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1596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595959"/>
                </a:solidFill>
              </a:defRPr>
            </a:pPr>
            <a:r>
              <a:t>Random guessing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4315968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95959"/>
                </a:solidFill>
              </a:defRPr>
            </a:pPr>
            <a:r>
              <a:t>2.86%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595959"/>
                </a:solidFill>
              </a:defRPr>
            </a:pPr>
            <a:r>
              <a:t>The CNN beats the classical pipeline by a clear margin — this gap is what deep learning buys us here.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Where does it go wrong? Confusion matrix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852160" cy="50161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595959"/>
                </a:solidFill>
              </a:defRPr>
            </a:pPr>
            <a:r>
              <a:t>Most confused pairs:</a:t>
            </a:r>
          </a:p>
          <a:p>
            <a:pPr>
              <a:spcAft>
                <a:spcPts val="1000"/>
              </a:spcAft>
              <a:defRPr sz="1700" b="0">
                <a:solidFill>
                  <a:srgbClr val="595959"/>
                </a:solidFill>
              </a:defRPr>
            </a:pPr>
            <a:r>
              <a:t>go &lt;-&gt; no         : 105 confusions</a:t>
            </a:r>
          </a:p>
          <a:p>
            <a:pPr>
              <a:spcAft>
                <a:spcPts val="1000"/>
              </a:spcAft>
              <a:defRPr sz="1700" b="0">
                <a:solidFill>
                  <a:srgbClr val="595959"/>
                </a:solidFill>
              </a:defRPr>
            </a:pPr>
            <a:r>
              <a:t>three &lt;-&gt; tree       : 100 confusions</a:t>
            </a:r>
          </a:p>
          <a:p>
            <a:pPr>
              <a:spcAft>
                <a:spcPts val="1000"/>
              </a:spcAft>
              <a:defRPr sz="1700" b="0">
                <a:solidFill>
                  <a:srgbClr val="595959"/>
                </a:solidFill>
              </a:defRPr>
            </a:pPr>
            <a:r>
              <a:t>visual &lt;-&gt; zero       : 97 confusions</a:t>
            </a:r>
          </a:p>
          <a:p>
            <a:pPr>
              <a:spcAft>
                <a:spcPts val="1000"/>
              </a:spcAft>
              <a:defRPr sz="1700" b="0">
                <a:solidFill>
                  <a:srgbClr val="595959"/>
                </a:solidFill>
              </a:defRPr>
            </a:pPr>
            <a:r>
              <a:t>five &lt;-&gt; on         : 90 confusions</a:t>
            </a:r>
          </a:p>
          <a:p>
            <a:pPr>
              <a:spcAft>
                <a:spcPts val="1000"/>
              </a:spcAft>
              <a:defRPr sz="1700" b="0">
                <a:solidFill>
                  <a:srgbClr val="595959"/>
                </a:solidFill>
              </a:defRPr>
            </a:pPr>
            <a:r>
              <a:t>down &lt;-&gt; no         : 87 confusions</a:t>
            </a:r>
          </a:p>
          <a:p>
            <a:pPr>
              <a:spcAft>
                <a:spcPts val="1000"/>
              </a:spcAft>
              <a:defRPr sz="1700" b="0">
                <a:solidFill>
                  <a:srgbClr val="595959"/>
                </a:solidFill>
              </a:defRPr>
            </a:pPr>
            <a:r>
              <a:t>These are genuinely similar-sounding words — even humans mix them 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Noise 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95959"/>
                </a:solidFill>
              </a:defRPr>
            </a:pPr>
            <a:r>
              <a:t>Real background noise mixed into test clips at controlled SNRs</a:t>
            </a:r>
          </a:p>
        </p:txBody>
      </p:sp>
      <p:pic>
        <p:nvPicPr>
          <p:cNvPr id="5" name="Picture 4" descr="noise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5669280" cy="36445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595959"/>
                </a:solidFill>
              </a:defRPr>
            </a:pPr>
            <a:r>
              <a:t>Accuracy degrades gracefully as noise rises — no cliff-edge failure.</a:t>
            </a:r>
          </a:p>
          <a:p>
            <a:pPr>
              <a:spcAft>
                <a:spcPts val="1000"/>
              </a:spcAft>
              <a:defRPr sz="2000" b="1">
                <a:solidFill>
                  <a:srgbClr val="595959"/>
                </a:solidFill>
              </a:defRPr>
            </a:pPr>
            <a:r>
              <a:t>Clean: 63.3% → 0 dB SNR: 18.2%</a:t>
            </a:r>
          </a:p>
          <a:p>
            <a:pPr>
              <a:spcAft>
                <a:spcPts val="1000"/>
              </a:spcAft>
              <a:defRPr sz="2000" b="0">
                <a:solidFill>
                  <a:srgbClr val="595959"/>
                </a:solidFill>
              </a:defRPr>
            </a:pPr>
            <a:r>
              <a:t>Practical takeaway: fine-tuning on noisy clips would be the next step.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95959"/>
                </a:solidFill>
              </a:defRPr>
            </a:pPr>
            <a:r>
              <a:t>Streamlit app — mic recording or .wav upload</a:t>
            </a:r>
          </a:p>
        </p:txBody>
      </p:sp>
      <p:pic>
        <p:nvPicPr>
          <p:cNvPr id="5" name="Picture 4" descr="waveform_spectrogram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5669280" cy="5669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595959"/>
                </a:solidFill>
              </a:defRPr>
            </a:pPr>
            <a:r>
              <a:t>Run:  streamlit run app/streamlit_app.py</a:t>
            </a:r>
          </a:p>
          <a:p>
            <a:pPr>
              <a:spcAft>
                <a:spcPts val="1000"/>
              </a:spcAft>
              <a:defRPr sz="2000" b="0">
                <a:solidFill>
                  <a:srgbClr val="595959"/>
                </a:solidFill>
              </a:defRPr>
            </a:pPr>
            <a:r>
              <a:t>Records 1 second from the browser mic, computes the log-mel, shows top-3 predictions.</a:t>
            </a:r>
          </a:p>
          <a:p>
            <a:pPr>
              <a:spcAft>
                <a:spcPts val="1000"/>
              </a:spcAft>
              <a:defRPr sz="2000" b="0">
                <a:solidFill>
                  <a:srgbClr val="595959"/>
                </a:solidFill>
              </a:defRPr>
            </a:pPr>
            <a:r>
              <a:t>A “custom model” toggle loads your fine-tuned weights after you record your own voice.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Personalization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595959"/>
                </a:solidFill>
              </a:defRPr>
            </a:pPr>
            <a:r>
              <a:t>The dataset is mostly North-American accents — record_custom.py + finetune_custom.py adapt the model to YOUR voice (new words become new output classes).</a:t>
            </a:r>
          </a:p>
          <a:p>
            <a:pPr>
              <a:spcAft>
                <a:spcPts val="1000"/>
              </a:spcAft>
              <a:defRPr sz="2000" b="0">
                <a:solidFill>
                  <a:srgbClr val="595959"/>
                </a:solidFill>
              </a:defRPr>
            </a:pPr>
            <a:r>
              <a:t>Next steps: train with noise augmentation; try the TinyTransformer in src/models.py; quantize to run on a microcontroller.</a:t>
            </a:r>
          </a:p>
          <a:p>
            <a:pPr>
              <a:spcAft>
                <a:spcPts val="1000"/>
              </a:spcAft>
              <a:defRPr sz="2000" b="1">
                <a:solidFill>
                  <a:srgbClr val="595959"/>
                </a:solidFill>
              </a:defRPr>
            </a:pPr>
            <a:r>
              <a:t>Key lesson: representation matters more than model size — a good spectrogram + a 1.1M-param CNN beats a bigger model on raw audio.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BDDFF"/>
                </a:solidFill>
              </a:defRPr>
            </a:pPr>
            <a:r>
              <a:t>Code, docs &amp; trained model: github.com/idityaGE/voice-command-recognition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
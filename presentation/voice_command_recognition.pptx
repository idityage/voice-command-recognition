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one-liner: a computer that hears 35 spoken commands. This is your deep-learning course project — everything here was trained and measured by you, on your own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Keyword spotting = always-on listening for a fixed vocabulary. Stress the constraints — tiny, fast, offline — that's what justifies a small CNN instead of a giant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105k clips, official splits — say why official splits matter: your numbers are comparable to published work, not inflated by a lucky random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pipeline left to right. The key insight: mel warps pitch the way human ears hear. Log-scale plus normalization because nets train far better on zero-mean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each block left to right. Point at the coral block — the AdaptiveAvgPool — and tease it: that's the fix from the debugging story coming up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epochs on CPU, Adam. Best checkpoint picked by validation accuracy — test set never touched during training, so the test number is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debugging story like it happened: 52.7% stall, diagnosed destroyed time resolution, AdaptiveAvgPool fix, +10.6 points. Professors love this slide — it proves you think, not just 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bars top to bottom. The gap between CNN and SVM is the story: this is what deep learning buys on this task. Random guessing at 2.9% shows how far 63% really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Errors are sensible — similar-sounding pairs. Point at go/no and three/tree: even humans mix these up. This is evidence the model learned phonetics,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here: accuracy collapses in heavy noise. Graceful degradation, no cliff — and the obvious next step is training on noisy clips. Admitting a weakness with a plan beats hiding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tip: have a backup .wav ready in case the classroom mic misbehaves. Show the top-3 predictions — the model's uncertainty is interesting, not embarrassing.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personalization angle is what makes this project yours, not a tutorial copy: your voice, your words. Close with the representation lesson — it's the most quotable line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audience, point at the repo link, invite questions. If asked about the 63%: it's a clean baseline — augmentation and a bigger model are the known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0"/>
            <a:ext cx="12191695" cy="174167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0972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🎙️ Voice Command Recognition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BBDDFF"/>
                </a:solidFill>
              </a:defRPr>
            </a:pPr>
            <a:r>
              <a:t>Keyword spotting with a convolutional neural network</a:t>
            </a:r>
            <a:br/>
            <a:r>
              <a:t>on the Google Speech Commands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Deep Learning — Course Project</a:t>
            </a:r>
            <a:br/>
            <a:r>
              <a:t>Aditya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BDDFF"/>
                </a:solidFill>
              </a:defRPr>
            </a:pPr>
            <a:r>
              <a:t>voice-command-recognition  •  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The problem: keyword spotting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95959"/>
                </a:solidFill>
              </a:defRPr>
            </a:pPr>
            <a:r>
              <a:t>Recognize short spoken commands in real time, on small devices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881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595959"/>
                </a:solidFill>
              </a:defRPr>
            </a:pPr>
            <a:r>
              <a:t>Voice assistants, smart TVs and IoT gadgets all need to hear a few dozen fixed commands — “stop”, “go”, “volume up” — instantly and offline.</a:t>
            </a:r>
          </a:p>
          <a:p>
            <a:pPr>
              <a:spcAft>
                <a:spcPts val="1000"/>
              </a:spcAft>
              <a:defRPr sz="2000" b="1">
                <a:solidFill>
                  <a:srgbClr val="595959"/>
                </a:solidFill>
              </a:defRPr>
            </a:pPr>
            <a:r>
              <a:t>Goal: given a 1-second audio clip, output which of 35 command words was spoken.</a:t>
            </a:r>
          </a:p>
          <a:p>
            <a:pPr>
              <a:spcAft>
                <a:spcPts val="1000"/>
              </a:spcAft>
              <a:defRPr sz="2000" b="0">
                <a:solidFill>
                  <a:srgbClr val="595959"/>
                </a:solidFill>
              </a:defRPr>
            </a:pPr>
            <a:r>
              <a:t>Constraints: tiny model (fits on a phone), fast inference, robust to background noise.</a:t>
            </a:r>
          </a:p>
          <a:p>
            <a:pPr>
              <a:spcAft>
                <a:spcPts val="1000"/>
              </a:spcAft>
              <a:defRPr sz="2000" b="0">
                <a:solidFill>
                  <a:srgbClr val="595959"/>
                </a:solidFill>
              </a:defRPr>
            </a:pPr>
            <a:r>
              <a:t>This is a classification problem — but the input is sound, not an image.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95959"/>
                </a:solidFill>
              </a:defRPr>
            </a:pPr>
            <a:r>
              <a:t>voice-command-recognition  •  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Dataset: Google Speech Commands v0.02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595959"/>
                </a:solidFill>
              </a:defRPr>
            </a:pPr>
            <a:r>
              <a:t>105,829 one-second clips, 16 kHz mono — words like “yes”, “no”, “up”, “down”, “stop”, “go”, plus digits.</a:t>
            </a:r>
          </a:p>
          <a:p>
            <a:pPr>
              <a:spcAft>
                <a:spcPts val="1000"/>
              </a:spcAft>
              <a:defRPr sz="2000" b="0">
                <a:solidFill>
                  <a:srgbClr val="595959"/>
                </a:solidFill>
              </a:defRPr>
            </a:pPr>
            <a:r>
              <a:t>35 word classes; official validation/test lists used (no random split) so results are comparable.</a:t>
            </a:r>
          </a:p>
          <a:p>
            <a:pPr>
              <a:spcAft>
                <a:spcPts val="1000"/>
              </a:spcAft>
              <a:defRPr sz="2000" b="1">
                <a:solidFill>
                  <a:srgbClr val="595959"/>
                </a:solidFill>
              </a:defRPr>
            </a:pPr>
            <a:r>
              <a:t>Classes are imbalanced — the smallest word class has ~2.6× fewer clips than the largest.</a:t>
            </a:r>
          </a:p>
          <a:p>
            <a:pPr>
              <a:spcAft>
                <a:spcPts val="1000"/>
              </a:spcAft>
              <a:defRPr sz="2000" b="0">
                <a:solidFill>
                  <a:srgbClr val="595959"/>
                </a:solidFill>
              </a:defRPr>
            </a:pPr>
            <a:r>
              <a:t>Ships with real background-noise recordings for the robustness study.</a:t>
            </a:r>
          </a:p>
        </p:txBody>
      </p:sp>
      <p:pic>
        <p:nvPicPr>
          <p:cNvPr id="6" name="Picture 5" descr="cla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920240"/>
            <a:ext cx="5303520" cy="42428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95959"/>
                </a:solidFill>
              </a:defRPr>
            </a:pPr>
            <a:r>
              <a:t>voice-command-recognition  •  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Approach: sound → image → 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95959"/>
                </a:solidFill>
              </a:defRPr>
            </a:pPr>
            <a:r>
              <a:t>Turn audio into a picture of pitch-over-time, then use image recognition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2468880" cy="20116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1. Waveform</a:t>
            </a:r>
            <a:br/>
            <a:r>
              <a:t>16,000 samples</a:t>
            </a:r>
          </a:p>
          <a:p>
            <a:pPr algn="ctr">
              <a:defRPr sz="1500">
                <a:solidFill>
                  <a:srgbClr val="FFFFFF"/>
                </a:solidFill>
              </a:defRPr>
            </a:pPr>
            <a:r>
              <a:t>raw air-pressure</a:t>
            </a:r>
            <a:br/>
            <a:r>
              <a:t>wiggle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292608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76F51"/>
                </a:solidFill>
              </a:defRPr>
            </a:pPr>
            <a:r>
              <a:t>▶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194560"/>
            <a:ext cx="2468880" cy="20116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2. Log-mel</a:t>
            </a:r>
            <a:br/>
            <a:r>
              <a:t>spectrogram</a:t>
            </a:r>
            <a:br/>
            <a:r>
              <a:t>40 × 101</a:t>
            </a:r>
          </a:p>
          <a:p>
            <a:pPr algn="ctr">
              <a:defRPr sz="1500">
                <a:solidFill>
                  <a:srgbClr val="FFFFFF"/>
                </a:solidFill>
              </a:defRPr>
            </a:pPr>
            <a:r>
              <a:t>pitch (mel) vs time;</a:t>
            </a:r>
            <a:br/>
            <a:r>
              <a:t>log-scaled, normalized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92608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76F51"/>
                </a:solidFill>
              </a:defRPr>
            </a:pPr>
            <a: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94560"/>
            <a:ext cx="2468880" cy="20116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3. CNN</a:t>
            </a:r>
            <a:br/>
            <a:r>
              <a:t>~1.1M params</a:t>
            </a:r>
          </a:p>
          <a:p>
            <a:pPr algn="ctr">
              <a:defRPr sz="1500">
                <a:solidFill>
                  <a:srgbClr val="FFFFFF"/>
                </a:solidFill>
              </a:defRPr>
            </a:pPr>
            <a:r>
              <a:t>learns visual patterns:</a:t>
            </a:r>
            <a:br/>
            <a:r>
              <a:t>hiss, bursts, vowels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92608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76F51"/>
                </a:solidFill>
              </a:defRPr>
            </a:pPr>
            <a: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6839" y="2194560"/>
            <a:ext cx="2468880" cy="20116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4. Softmax</a:t>
            </a:r>
            <a:br/>
            <a:r>
              <a:t>35 words</a:t>
            </a:r>
          </a:p>
          <a:p>
            <a:pPr algn="ctr">
              <a:defRPr sz="1500">
                <a:solidFill>
                  <a:srgbClr val="FFFFFF"/>
                </a:solidFill>
              </a:defRPr>
            </a:pPr>
            <a:r>
              <a:t>probability per word;</a:t>
            </a:r>
            <a:br/>
            <a:r>
              <a:t>pick the max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595959"/>
                </a:solidFill>
              </a:defRPr>
            </a:pPr>
            <a:r>
              <a:t>Why mel? It warps pitch the way human ears hear — fine detail at low frequencies, coarse at high ones.</a:t>
            </a:r>
          </a:p>
          <a:p>
            <a:pPr>
              <a:spcAft>
                <a:spcPts val="1000"/>
              </a:spcAft>
              <a:defRPr sz="1800" b="0">
                <a:solidFill>
                  <a:srgbClr val="595959"/>
                </a:solidFill>
              </a:defRPr>
            </a:pPr>
            <a:r>
              <a:t>Why log + normalize? Loudness is logarithmic, and neural nets train far better on zero-mean inputs.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95959"/>
                </a:solidFill>
              </a:defRPr>
            </a:pPr>
            <a:r>
              <a:t>voice-command-recognition  •  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Model architecture: KeywordCNN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95959"/>
                </a:solidFill>
              </a:defRPr>
            </a:pPr>
            <a:r>
              <a:t>1,132,707 trainable parameters — small enough to train on a laptop CPU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94560"/>
            <a:ext cx="1965960" cy="2194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FFFFFF"/>
                </a:solidFill>
              </a:defRPr>
            </a:pPr>
            <a:r>
              <a:t>INPUT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1 × 40 × 101</a:t>
            </a:r>
            <a:br/>
            <a:r>
              <a:t>log-mel</a:t>
            </a:r>
            <a:br/>
            <a:r>
              <a:t>spectrogram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3063240"/>
            <a:ext cx="29260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E76F51"/>
                </a:solidFill>
              </a:defRPr>
            </a:pPr>
            <a:r>
              <a:t>▶</a:t>
            </a:r>
          </a:p>
        </p:txBody>
      </p:sp>
      <p:sp>
        <p:nvSpPr>
          <p:cNvPr id="8" name="Rectangle 7"/>
          <p:cNvSpPr/>
          <p:nvPr/>
        </p:nvSpPr>
        <p:spPr>
          <a:xfrm>
            <a:off x="2761488" y="2194560"/>
            <a:ext cx="1965960" cy="2194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FFFFFF"/>
                </a:solidFill>
              </a:defRPr>
            </a:pPr>
            <a:r>
              <a:t>CONV ×2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64 → 128 ch</a:t>
            </a:r>
            <a:br/>
            <a:r>
              <a:t>3×3 + BN + ReLU</a:t>
            </a:r>
            <a:br/>
            <a:r>
              <a:t>MaxPool + Dropout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7448" y="3063240"/>
            <a:ext cx="29260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E76F51"/>
                </a:solidFill>
              </a:defRPr>
            </a:pPr>
            <a: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0056" y="2194560"/>
            <a:ext cx="1965960" cy="219456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FFFFFF"/>
                </a:solidFill>
              </a:defRPr>
            </a:pPr>
            <a:r>
              <a:t>ADAPTIVE</a:t>
            </a:r>
            <a:br/>
            <a:r>
              <a:t>AVG POOL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4 × 8</a:t>
            </a:r>
            <a:br/>
            <a:r>
              <a:t>keeps time</a:t>
            </a:r>
            <a:br/>
            <a:r>
              <a:t>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6016" y="3063240"/>
            <a:ext cx="29260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E76F51"/>
                </a:solidFill>
              </a:defRPr>
            </a:pPr>
            <a: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78624" y="2194560"/>
            <a:ext cx="1965960" cy="2194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FFFFFF"/>
                </a:solidFill>
              </a:defRPr>
            </a:pPr>
            <a:r>
              <a:t>DENSE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4096 → 256</a:t>
            </a:r>
            <a:br/>
            <a:r>
              <a:t>ReLU + Dropout</a:t>
            </a:r>
            <a:br/>
            <a:r>
              <a:t>(0.5)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44584" y="3063240"/>
            <a:ext cx="29260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E76F51"/>
                </a:solidFill>
              </a:defRPr>
            </a:pPr>
            <a: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37192" y="2194560"/>
            <a:ext cx="1965960" cy="2194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FFFFFF"/>
                </a:solidFill>
              </a:defRPr>
            </a:pPr>
            <a:r>
              <a:t>OUTPUT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35 words</a:t>
            </a:r>
            <a:br/>
            <a:r>
              <a:t>softmax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595959"/>
                </a:solidFill>
              </a:defRPr>
            </a:pPr>
            <a:r>
              <a:t>Convolutions detect local time-frequency patterns; pooling gives shift tolerance; dropout + batch-norm fight overfitting.</a:t>
            </a:r>
          </a:p>
          <a:p>
            <a:pPr>
              <a:spcAft>
                <a:spcPts val="1000"/>
              </a:spcAft>
              <a:defRPr sz="1800" b="1">
                <a:solidFill>
                  <a:srgbClr val="595959"/>
                </a:solidFill>
              </a:defRPr>
            </a:pPr>
            <a:r>
              <a:t>The coral block is the hero of this story — more on the next slide.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95959"/>
                </a:solidFill>
              </a:defRPr>
            </a:pPr>
            <a:r>
              <a:t>voice-command-recognition  •  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852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595959"/>
                </a:solidFill>
              </a:defRPr>
            </a:pPr>
            <a:r>
              <a:t>Cross-entropy loss, best checkpoint kept by validation accuracy — the test set was never touched during training.</a:t>
            </a:r>
          </a:p>
          <a:p>
            <a:pPr>
              <a:spcAft>
                <a:spcPts val="1000"/>
              </a:spcAft>
              <a:defRPr sz="2000" b="0">
                <a:solidFill>
                  <a:srgbClr val="595959"/>
                </a:solidFill>
              </a:defRPr>
            </a:pPr>
            <a:r>
              <a:t>Augmentation-free baseline: the numbers ahead are from clean training only.</a:t>
            </a:r>
          </a:p>
          <a:p>
            <a:pPr>
              <a:spcAft>
                <a:spcPts val="1000"/>
              </a:spcAft>
              <a:defRPr sz="2000" b="0">
                <a:solidFill>
                  <a:srgbClr val="595959"/>
                </a:solidFill>
              </a:defRPr>
            </a:pPr>
            <a:r>
              <a:t>Learning rate halved automatically when validation accuracy plateaus.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0" y="2103120"/>
            <a:ext cx="2286000" cy="17373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15</a:t>
            </a:r>
          </a:p>
          <a:p>
            <a:pPr algn="ctr">
              <a:defRPr sz="1500">
                <a:solidFill>
                  <a:srgbClr val="FFFFFF"/>
                </a:solidFill>
              </a:defRPr>
            </a:pPr>
            <a:r>
              <a:t>epochs</a:t>
            </a:r>
            <a:br/>
            <a:r>
              <a:t>CPU-only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9464040" y="2103120"/>
            <a:ext cx="2286000" cy="17373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256</a:t>
            </a:r>
          </a:p>
          <a:p>
            <a:pPr algn="ctr">
              <a:defRPr sz="1500">
                <a:solidFill>
                  <a:srgbClr val="FFFFFF"/>
                </a:solidFill>
              </a:defRPr>
            </a:pPr>
            <a:r>
              <a:t>batch size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0" y="4114800"/>
            <a:ext cx="4800600" cy="17373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Adam  •  lr 1e-3</a:t>
            </a:r>
          </a:p>
          <a:p>
            <a:pPr algn="ctr">
              <a:defRPr sz="1500">
                <a:solidFill>
                  <a:srgbClr val="FFFFFF"/>
                </a:solidFill>
              </a:defRPr>
            </a:pPr>
            <a:r>
              <a:t>optimizer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95959"/>
                </a:solidFill>
              </a:defRPr>
            </a:pPr>
            <a:r>
              <a:t>voice-command-recognition  •  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Iteration: what the first model taught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95959"/>
                </a:solidFill>
              </a:defRPr>
            </a:pPr>
            <a:r>
              <a:t>The first trained model stalled at 52.7% — debugging it was the most valuable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011680"/>
            <a:ext cx="28346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595959"/>
                </a:solidFill>
              </a:defRPr>
            </a:pPr>
            <a:r>
              <a:t>52.7%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2004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95959"/>
                </a:solidFill>
              </a:defRPr>
            </a:pPr>
            <a:r>
              <a:t>first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011680"/>
            <a:ext cx="28346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2E86AB"/>
                </a:solidFill>
              </a:defRPr>
            </a:pPr>
            <a:r>
              <a:t>63.3%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2004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95959"/>
                </a:solidFill>
              </a:defRPr>
            </a:pPr>
            <a:r>
              <a:t>after pooling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148840"/>
            <a:ext cx="14630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E76F51"/>
                </a:solidFill>
              </a:defRPr>
            </a:pPr>
            <a: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32004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E76F51"/>
                </a:solidFill>
              </a:defRPr>
            </a:pPr>
            <a:r>
              <a:t>+10.6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595959"/>
                </a:solidFill>
              </a:defRPr>
            </a:pPr>
            <a:r>
              <a:t>Symptom: validation accuracy plateaued near 53% — under-capacity, not overfitting.</a:t>
            </a:r>
          </a:p>
          <a:p>
            <a:pPr>
              <a:spcAft>
                <a:spcPts val="1000"/>
              </a:spcAft>
              <a:defRPr sz="1800" b="0">
                <a:solidFill>
                  <a:srgbClr val="595959"/>
                </a:solidFill>
              </a:defRPr>
            </a:pPr>
            <a:r>
              <a:t>Diagnosis: two stacked 2×2 max-pools crushed the 40×101 spectrogram to 10×25, destroying the fine timing detail that separates “three” from “tree”.</a:t>
            </a:r>
          </a:p>
          <a:p>
            <a:pPr>
              <a:spcAft>
                <a:spcPts val="1000"/>
              </a:spcAft>
              <a:defRPr sz="1800" b="1">
                <a:solidFill>
                  <a:srgbClr val="595959"/>
                </a:solidFill>
              </a:defRPr>
            </a:pPr>
            <a:r>
              <a:t>Viva-ready lesson: when a model underfits, ask what information the architecture destroys.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95959"/>
                </a:solidFill>
              </a:defRPr>
            </a:pPr>
            <a:r>
              <a:t>voice-command-recognition  •  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95959"/>
                </a:solidFill>
              </a:defRPr>
            </a:pPr>
            <a:r>
              <a:t>Test accuracy 63.33% on 11,005 held-out clips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7772400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0428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KeywordCNN (this work)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304288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E86AB"/>
                </a:solidFill>
              </a:defRPr>
            </a:pPr>
            <a:r>
              <a:t>63.33%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0400"/>
            <a:ext cx="7772400" cy="8229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101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595959"/>
                </a:solidFill>
              </a:defRPr>
            </a:pPr>
            <a:r>
              <a:t>MFCC + linear SVM (classical baseline)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3310128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95959"/>
                </a:solidFill>
              </a:defRPr>
            </a:pPr>
            <a:r>
              <a:t>22.66%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206240"/>
            <a:ext cx="7772400" cy="8229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1596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595959"/>
                </a:solidFill>
              </a:defRPr>
            </a:pPr>
            <a:r>
              <a:t>Random guessing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315968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95959"/>
                </a:solidFill>
              </a:defRPr>
            </a:pPr>
            <a:r>
              <a:t>2.86%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864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595959"/>
                </a:solidFill>
              </a:defRPr>
            </a:pPr>
            <a:r>
              <a:t>The CNN beats the classical pipeline by a clear margin — this gap is what deep learning buys us here.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95959"/>
                </a:solidFill>
              </a:defRPr>
            </a:pPr>
            <a:r>
              <a:t>voice-command-recognition  •  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Where does it go wrong? Confusion matrix</a:t>
            </a:r>
          </a:p>
        </p:txBody>
      </p:sp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5852160" cy="50161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21945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595959"/>
                </a:solidFill>
              </a:defRPr>
            </a:pPr>
            <a:r>
              <a:t>Most confused pairs:</a:t>
            </a:r>
          </a:p>
          <a:p>
            <a:pPr>
              <a:spcAft>
                <a:spcPts val="1000"/>
              </a:spcAft>
              <a:defRPr sz="1700" b="0">
                <a:solidFill>
                  <a:srgbClr val="595959"/>
                </a:solidFill>
              </a:defRPr>
            </a:pPr>
            <a:r>
              <a:t>go &lt;-&gt; no         : 105 confusions</a:t>
            </a:r>
          </a:p>
          <a:p>
            <a:pPr>
              <a:spcAft>
                <a:spcPts val="1000"/>
              </a:spcAft>
              <a:defRPr sz="1700" b="0">
                <a:solidFill>
                  <a:srgbClr val="595959"/>
                </a:solidFill>
              </a:defRPr>
            </a:pPr>
            <a:r>
              <a:t>three &lt;-&gt; tree       : 100 confusions</a:t>
            </a:r>
          </a:p>
          <a:p>
            <a:pPr>
              <a:spcAft>
                <a:spcPts val="1000"/>
              </a:spcAft>
              <a:defRPr sz="1700" b="0">
                <a:solidFill>
                  <a:srgbClr val="595959"/>
                </a:solidFill>
              </a:defRPr>
            </a:pPr>
            <a:r>
              <a:t>visual &lt;-&gt; zero       : 97 confusions</a:t>
            </a:r>
          </a:p>
          <a:p>
            <a:pPr>
              <a:spcAft>
                <a:spcPts val="1000"/>
              </a:spcAft>
              <a:defRPr sz="1700" b="0">
                <a:solidFill>
                  <a:srgbClr val="595959"/>
                </a:solidFill>
              </a:defRPr>
            </a:pPr>
            <a:r>
              <a:t>five &lt;-&gt; on         : 90 confusions</a:t>
            </a:r>
          </a:p>
          <a:p>
            <a:pPr>
              <a:spcAft>
                <a:spcPts val="1000"/>
              </a:spcAft>
              <a:defRPr sz="1700" b="0">
                <a:solidFill>
                  <a:srgbClr val="595959"/>
                </a:solidFill>
              </a:defRPr>
            </a:pPr>
            <a:r>
              <a:t>down &lt;-&gt; no         : 87 confusions</a:t>
            </a:r>
          </a:p>
          <a:p>
            <a:pPr>
              <a:spcAft>
                <a:spcPts val="1000"/>
              </a:spcAft>
              <a:defRPr sz="1700" b="0">
                <a:solidFill>
                  <a:srgbClr val="595959"/>
                </a:solidFill>
              </a:defRPr>
            </a:pPr>
            <a:r>
              <a:t>These are genuinely similar-sounding words — even humans mix them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95959"/>
                </a:solidFill>
              </a:defRPr>
            </a:pPr>
            <a:r>
              <a:t>voice-command-recognition  •  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Noise 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95959"/>
                </a:solidFill>
              </a:defRPr>
            </a:pPr>
            <a:r>
              <a:t>Real background noise mixed into test clips at controlled SNRs</a:t>
            </a:r>
          </a:p>
        </p:txBody>
      </p:sp>
      <p:pic>
        <p:nvPicPr>
          <p:cNvPr id="6" name="Picture 5" descr="noise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5669280" cy="3644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219456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595959"/>
                </a:solidFill>
              </a:defRPr>
            </a:pPr>
            <a:r>
              <a:t>Accuracy degrades gracefully as noise rises — no cliff-edge failure.</a:t>
            </a:r>
          </a:p>
          <a:p>
            <a:pPr>
              <a:spcAft>
                <a:spcPts val="1000"/>
              </a:spcAft>
              <a:defRPr sz="2000" b="1">
                <a:solidFill>
                  <a:srgbClr val="595959"/>
                </a:solidFill>
              </a:defRPr>
            </a:pPr>
            <a:r>
              <a:t>Clean: 63.3% → 0 dB SNR: 18.2%</a:t>
            </a:r>
          </a:p>
          <a:p>
            <a:pPr>
              <a:spcAft>
                <a:spcPts val="1000"/>
              </a:spcAft>
              <a:defRPr sz="2000" b="0">
                <a:solidFill>
                  <a:srgbClr val="595959"/>
                </a:solidFill>
              </a:defRPr>
            </a:pPr>
            <a:r>
              <a:t>Honest weakness — and the natural next step: fine-tuning on noisy clips.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95959"/>
                </a:solidFill>
              </a:defRPr>
            </a:pPr>
            <a:r>
              <a:t>voice-command-recognition  •  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95959"/>
                </a:solidFill>
              </a:defRPr>
            </a:pPr>
            <a:r>
              <a:t>Streamlit app — mic recording or .wav upload</a:t>
            </a:r>
          </a:p>
        </p:txBody>
      </p:sp>
      <p:pic>
        <p:nvPicPr>
          <p:cNvPr id="6" name="Picture 5" descr="waveform_spectrogram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5669280" cy="5669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219456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595959"/>
                </a:solidFill>
              </a:defRPr>
            </a:pPr>
            <a:r>
              <a:t>Run:  streamlit run app/streamlit_app.py</a:t>
            </a:r>
          </a:p>
          <a:p>
            <a:pPr>
              <a:spcAft>
                <a:spcPts val="1000"/>
              </a:spcAft>
              <a:defRPr sz="2000" b="0">
                <a:solidFill>
                  <a:srgbClr val="595959"/>
                </a:solidFill>
              </a:defRPr>
            </a:pPr>
            <a:r>
              <a:t>Records 1 second from the browser mic, computes the log-mel, shows top-3 predictions.</a:t>
            </a:r>
          </a:p>
          <a:p>
            <a:pPr>
              <a:spcAft>
                <a:spcPts val="1000"/>
              </a:spcAft>
              <a:defRPr sz="2000" b="0">
                <a:solidFill>
                  <a:srgbClr val="595959"/>
                </a:solidFill>
              </a:defRPr>
            </a:pPr>
            <a:r>
              <a:t>A “custom model” toggle loads your fine-tuned weights after you record your own voice.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95959"/>
                </a:solidFill>
              </a:defRPr>
            </a:pPr>
            <a:r>
              <a:t>voice-command-recognition  •  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Personalization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595959"/>
                </a:solidFill>
              </a:defRPr>
            </a:pPr>
            <a:r>
              <a:t>The dataset is mostly North-American accents — record_custom.py + finetune_custom.py adapt the model to YOUR voice (new words become new output classes).</a:t>
            </a:r>
          </a:p>
          <a:p>
            <a:pPr>
              <a:spcAft>
                <a:spcPts val="1000"/>
              </a:spcAft>
              <a:defRPr sz="2000" b="0">
                <a:solidFill>
                  <a:srgbClr val="595959"/>
                </a:solidFill>
              </a:defRPr>
            </a:pPr>
            <a:r>
              <a:t>Next steps: train with noise augmentation; try the TinyTransformer in src/models.py; quantize to run on a microcontroller.</a:t>
            </a:r>
          </a:p>
          <a:p>
            <a:pPr>
              <a:spcAft>
                <a:spcPts val="1000"/>
              </a:spcAft>
              <a:defRPr sz="2000" b="1">
                <a:solidFill>
                  <a:srgbClr val="595959"/>
                </a:solidFill>
              </a:defRPr>
            </a:pPr>
            <a:r>
              <a:t>Key lesson: representation matters more than model size — a good spectrogram + a 1.1M-param CNN beats a bigger model on raw audio.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95959"/>
                </a:solidFill>
              </a:defRPr>
            </a:pPr>
            <a:r>
              <a:t>voice-command-recognition  •  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BDDFF"/>
                </a:solidFill>
              </a:defRPr>
            </a:pPr>
            <a:r>
              <a:t>Code, docs &amp; trained model: github.com/idityaGE/voice-command-recognition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465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BDDFF"/>
                </a:solidFill>
              </a:defRPr>
            </a:pPr>
            <a:r>
              <a:t>voice-command-recognition  •  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